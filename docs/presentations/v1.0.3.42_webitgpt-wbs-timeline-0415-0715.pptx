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4949daa30f48ae" /><Relationship Type="http://schemas.openxmlformats.org/officeDocument/2006/relationships/extended-properties" Target="/docProps/app.xml" Id="Rdd83865032fd4308" /><Relationship Type="http://schemas.openxmlformats.org/officeDocument/2006/relationships/officeDocument" Target="/ppt/presentation.xml" Id="Rb9aead4269b642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18abbfa3ef43d0"/>
  </p:sldMasterIdLst>
  <p:notesMasterIdLst>
    <p:notesMasterId xmlns:r="http://schemas.openxmlformats.org/officeDocument/2006/relationships" r:id="R5d3900bd64d949c3"/>
  </p:notesMasterIdLst>
  <p:sldIdLst>
    <p:sldId xmlns:r="http://schemas.openxmlformats.org/officeDocument/2006/relationships" id="256" r:id="Rf2020c2a557847b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18abbfa3ef43d0" /><Relationship Type="http://schemas.openxmlformats.org/officeDocument/2006/relationships/theme" Target="/ppt/theme/theme1.xml" Id="Ra8d353d74083478d" /><Relationship Type="http://schemas.openxmlformats.org/officeDocument/2006/relationships/notesMaster" Target="/ppt/notesMasters/notesMaster1.xml" Id="R5d3900bd64d949c3" /><Relationship Type="http://schemas.openxmlformats.org/officeDocument/2006/relationships/presProps" Target="/ppt/presProps.xml" Id="R877f576a6d814fe5" /><Relationship Type="http://schemas.openxmlformats.org/officeDocument/2006/relationships/viewProps" Target="/ppt/viewProps.xml" Id="R2bf37088d27946d1" /><Relationship Type="http://schemas.openxmlformats.org/officeDocument/2006/relationships/tableStyles" Target="/ppt/tableStyles.xml" Id="Re6b0dda73a004b80" /><Relationship Type="http://schemas.openxmlformats.org/officeDocument/2006/relationships/slide" Target="/ppt/slides/slide1.xml" Id="Rf2020c2a557847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82b14b9b03341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45c9d9236f45b2" /><Relationship Type="http://schemas.openxmlformats.org/officeDocument/2006/relationships/notesMaster" Target="/ppt/notesMasters/notesMaster1.xml" Id="R1773deb88d2843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e420a8e0224a5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8bc1f84631e46d7" /><Relationship Type="http://schemas.openxmlformats.org/officeDocument/2006/relationships/slideLayout" Target="/ppt/slideLayouts/slideLayout2.xml" Id="R0786b885e45d4e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86b885e45d4e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183fc5043f46a6" /><Relationship Type="http://schemas.openxmlformats.org/officeDocument/2006/relationships/notesSlide" Target="/ppt/notesSlides/notesSlide1.xml" Id="R610f85e0b4544cb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D6B99A-F828-4BC0-93EB-28C654BE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C"/>
          </a:solidFill>
          <a:ln xmlns:a="http://schemas.openxmlformats.org/drawingml/2006/main" w="9525">
            <a:solidFill>
              <a:srgbClr val="FBFD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0FCC0F-CF7C-423F-8551-D466D4D3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5300"/>
            <a:ext cx="36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B48F"/>
          </a:solidFill>
          <a:ln xmlns:a="http://schemas.openxmlformats.org/drawingml/2006/main" w="0">
            <a:solidFill>
              <a:srgbClr val="37B48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00667-A3BE-46FD-B58F-2EA788A9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"/>
            <a:ext cx="638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6B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06B4A"/>
                </a:solidFill>
                <a:latin typeface="Microsoft JhengHei"/>
                <a:ea typeface="Microsoft JhengHei"/>
                <a:cs typeface="Microsoft JhengHei"/>
              </a:rPr>
              <a:t>webitgpt 維運平台導入時程表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2F652-3943-4E48-B470-5097FE50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52525"/>
            <a:ext cx="10077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4F"/>
          </a:solidFill>
          <a:ln xmlns:a="http://schemas.openxmlformats.org/drawingml/2006/main" w="9525">
            <a:solidFill>
              <a:srgbClr val="243B4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9C7F3-73D9-4FB5-B3B7-D19C57F9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7429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A"/>
          </a:solidFill>
          <a:ln xmlns:a="http://schemas.openxmlformats.org/drawingml/2006/main" w="9525">
            <a:solidFill>
              <a:srgbClr val="394B5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9B9B3A-8A09-42B9-9F84-03407AE8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876300"/>
            <a:ext cx="1162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2D3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B2D3C"/>
                </a:solidFill>
                <a:latin typeface="Microsoft JhengHei"/>
                <a:ea typeface="Microsoft JhengHei"/>
                <a:cs typeface="Microsoft JhengHei"/>
              </a:rPr>
              <a:t>全案狀態 執行中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608C87-E2A5-45DE-9602-88BE7D33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866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F46"/>
          </a:solidFill>
          <a:ln xmlns:a="http://schemas.openxmlformats.org/drawingml/2006/main" w="9525">
            <a:solidFill>
              <a:srgbClr val="008F4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8267C0-203E-41E8-B912-40ADDC92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3335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B7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5B6B7D"/>
                </a:solidFill>
                <a:latin typeface="Microsoft JhengHei"/>
                <a:ea typeface="Microsoft JhengHei"/>
                <a:cs typeface="Microsoft JhengHei"/>
              </a:rPr>
              <a:t>更新日期：2026/5/28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8460B7-8C78-400A-BF0D-EC6D8BEA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3238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ECF"/>
          </a:solidFill>
          <a:ln xmlns:a="http://schemas.openxmlformats.org/drawingml/2006/main" w="9525">
            <a:solidFill>
              <a:srgbClr val="5F8F8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B45EC3-3A64-49EC-B2A6-69303A65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333625"/>
            <a:ext cx="19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8465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84653"/>
                </a:solidFill>
                <a:latin typeface="Microsoft JhengHei"/>
                <a:ea typeface="Microsoft JhengHei"/>
                <a:cs typeface="Microsoft JhengHei"/>
              </a:rPr>
              <a:t>時</a:t>
            </a:r>
          </a:p>
          <a:p xmlns:a="http://schemas.openxmlformats.org/drawingml/2006/main">
            <a:pPr algn="ctr">
              <a:defRPr sz="1275" b="1">
                <a:solidFill>
                  <a:srgbClr val="28465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84653"/>
                </a:solidFill>
                <a:latin typeface="Microsoft JhengHei"/>
                <a:ea typeface="Microsoft JhengHei"/>
                <a:cs typeface="Microsoft JhengHei"/>
              </a:rPr>
              <a:t>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0B5F97-F238-4F9E-A008-126DA1BD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48025"/>
            <a:ext cx="3238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CCB8"/>
          </a:solidFill>
          <a:ln xmlns:a="http://schemas.openxmlformats.org/drawingml/2006/main" w="9525">
            <a:solidFill>
              <a:srgbClr val="5F8F8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A46332-503B-4DA1-AED5-41EA116B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562350"/>
            <a:ext cx="1905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8465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84653"/>
                </a:solidFill>
                <a:latin typeface="Microsoft JhengHei"/>
                <a:ea typeface="Microsoft JhengHei"/>
                <a:cs typeface="Microsoft JhengHei"/>
              </a:rPr>
              <a:t>作</a:t>
            </a:r>
          </a:p>
          <a:p xmlns:a="http://schemas.openxmlformats.org/drawingml/2006/main">
            <a:pPr algn="ctr">
              <a:defRPr sz="1275" b="1">
                <a:solidFill>
                  <a:srgbClr val="28465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84653"/>
                </a:solidFill>
                <a:latin typeface="Microsoft JhengHei"/>
                <a:ea typeface="Microsoft JhengHei"/>
                <a:cs typeface="Microsoft JhengHei"/>
              </a:rPr>
              <a:t>業</a:t>
            </a:r>
          </a:p>
          <a:p xmlns:a="http://schemas.openxmlformats.org/drawingml/2006/main">
            <a:pPr algn="ctr">
              <a:defRPr sz="1275" b="1">
                <a:solidFill>
                  <a:srgbClr val="28465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84653"/>
                </a:solidFill>
                <a:latin typeface="Microsoft JhengHei"/>
                <a:ea typeface="Microsoft JhengHei"/>
                <a:cs typeface="Microsoft JhengHei"/>
              </a:rPr>
              <a:t>內</a:t>
            </a:r>
          </a:p>
          <a:p xmlns:a="http://schemas.openxmlformats.org/drawingml/2006/main">
            <a:pPr algn="ctr">
              <a:defRPr sz="1275" b="1">
                <a:solidFill>
                  <a:srgbClr val="28465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84653"/>
                </a:solidFill>
                <a:latin typeface="Microsoft JhengHei"/>
                <a:ea typeface="Microsoft JhengHei"/>
                <a:cs typeface="Microsoft JhengHei"/>
              </a:rPr>
              <a:t>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8B9C1C-EE3A-4026-9897-227089CF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323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BCA8"/>
          </a:solidFill>
          <a:ln xmlns:a="http://schemas.openxmlformats.org/drawingml/2006/main" w="9525">
            <a:solidFill>
              <a:srgbClr val="5F8F8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A03B70-1E70-40F1-835C-B72F6E15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638800"/>
            <a:ext cx="19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8465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84653"/>
                </a:solidFill>
                <a:latin typeface="Microsoft JhengHei"/>
                <a:ea typeface="Microsoft JhengHei"/>
                <a:cs typeface="Microsoft JhengHei"/>
              </a:rPr>
              <a:t>產</a:t>
            </a:r>
          </a:p>
          <a:p xmlns:a="http://schemas.openxmlformats.org/drawingml/2006/main">
            <a:pPr algn="ctr">
              <a:defRPr sz="1275" b="1">
                <a:solidFill>
                  <a:srgbClr val="28465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84653"/>
                </a:solidFill>
                <a:latin typeface="Microsoft JhengHei"/>
                <a:ea typeface="Microsoft JhengHei"/>
                <a:cs typeface="Microsoft JhengHei"/>
              </a:rPr>
              <a:t>出</a:t>
            </a:r>
          </a:p>
          <a:p xmlns:a="http://schemas.openxmlformats.org/drawingml/2006/main">
            <a:pPr algn="ctr">
              <a:defRPr sz="1275" b="1">
                <a:solidFill>
                  <a:srgbClr val="28465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84653"/>
                </a:solidFill>
                <a:latin typeface="Microsoft JhengHei"/>
                <a:ea typeface="Microsoft JhengHei"/>
                <a:cs typeface="Microsoft JhengHei"/>
              </a:rPr>
              <a:t>功</a:t>
            </a:r>
          </a:p>
          <a:p xmlns:a="http://schemas.openxmlformats.org/drawingml/2006/main">
            <a:pPr algn="ctr">
              <a:defRPr sz="1275" b="1">
                <a:solidFill>
                  <a:srgbClr val="28465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84653"/>
                </a:solidFill>
                <a:latin typeface="Microsoft JhengHei"/>
                <a:ea typeface="Microsoft JhengHei"/>
                <a:cs typeface="Microsoft JhengHei"/>
              </a:rPr>
              <a:t>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322B6C-9755-4158-BA73-D6A098A5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343150"/>
            <a:ext cx="9486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A"/>
          </a:solidFill>
          <a:ln xmlns:a="http://schemas.openxmlformats.org/drawingml/2006/main" w="9525">
            <a:solidFill>
              <a:srgbClr val="006B4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EC57B3-6803-4AEA-8ED1-FFC71992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50545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18F"/>
          </a:solidFill>
          <a:ln xmlns:a="http://schemas.openxmlformats.org/drawingml/2006/main" w="9525">
            <a:solidFill>
              <a:srgbClr val="6AA18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B7E670-4371-4266-A078-FEE71033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38175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A"/>
          </a:solidFill>
          <a:ln xmlns:a="http://schemas.openxmlformats.org/drawingml/2006/main" w="9525">
            <a:solidFill>
              <a:srgbClr val="006B4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F1B401-7E57-46B1-915D-B9B8A45D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0975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4CB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44CBE"/>
                </a:solidFill>
                <a:latin typeface="Microsoft JhengHei"/>
                <a:ea typeface="Microsoft JhengHei"/>
                <a:cs typeface="Microsoft JhengHei"/>
              </a:rPr>
              <a:t>2026/4/15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6AA5A6-62F3-4EEA-B07C-4B448C23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209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4A"/>
          </a:solidFill>
          <a:ln xmlns:a="http://schemas.openxmlformats.org/drawingml/2006/main" w="28575">
            <a:solidFill>
              <a:srgbClr val="006B4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2C86F7-04EE-432D-A908-233D1FC0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2669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F91476-3158-4F1A-8340-89E4AED2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24150"/>
            <a:ext cx="1543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A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A433A"/>
                </a:solidFill>
                <a:latin typeface="Microsoft JhengHei"/>
                <a:ea typeface="Microsoft JhengHei"/>
                <a:cs typeface="Microsoft JhengHei"/>
              </a:rPr>
              <a:t>啟動與資料基線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2B090B-D75A-47E3-95A9-06D5D9CC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81350"/>
            <a:ext cx="165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9525">
            <a:solidFill>
              <a:srgbClr val="D8E5D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D7901C-4EC6-4AAE-BBF8-B771FD1C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14700"/>
            <a:ext cx="1524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83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283C4B"/>
                </a:solidFill>
                <a:latin typeface="Microsoft JhengHei"/>
                <a:ea typeface="Microsoft JhengHei"/>
                <a:cs typeface="Microsoft JhengHei"/>
              </a:rPr>
              <a:t>• 確認管理範圍與核心系統。</a:t>
            </a:r>
          </a:p>
          <a:p xmlns:a="http://schemas.openxmlformats.org/drawingml/2006/main">
            <a:pPr algn="l">
              <a:defRPr sz="825" b="0">
                <a:solidFill>
                  <a:srgbClr val="283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283C4B"/>
                </a:solidFill>
                <a:latin typeface="Microsoft JhengHei"/>
                <a:ea typeface="Microsoft JhengHei"/>
                <a:cs typeface="Microsoft JhengHei"/>
              </a:rPr>
              <a:t>• 盤點 CMDB 欄位與主機/IP。</a:t>
            </a:r>
          </a:p>
          <a:p xmlns:a="http://schemas.openxmlformats.org/drawingml/2006/main">
            <a:pPr algn="l">
              <a:defRPr sz="825" b="0">
                <a:solidFill>
                  <a:srgbClr val="283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283C4B"/>
                </a:solidFill>
                <a:latin typeface="Microsoft JhengHei"/>
                <a:ea typeface="Microsoft JhengHei"/>
                <a:cs typeface="Microsoft JhengHei"/>
              </a:rPr>
              <a:t>• 建立匯入模板與版本規則。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75894E-293E-45D0-81EB-2FF4800C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14975"/>
            <a:ext cx="165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BBAE"/>
          </a:solidFill>
          <a:ln xmlns:a="http://schemas.openxmlformats.org/drawingml/2006/main" w="9525">
            <a:solidFill>
              <a:srgbClr val="94BBA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4EE7DB-BCBA-4897-9D69-D1E4F4CC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534025"/>
            <a:ext cx="1676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F15809-03E1-43CD-B70C-83005AB0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3880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F2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172F24"/>
                </a:solidFill>
                <a:latin typeface="Microsoft JhengHei"/>
                <a:ea typeface="Microsoft JhengHei"/>
                <a:cs typeface="Microsoft JhengHei"/>
              </a:rPr>
              <a:t>✓ 資產管理</a:t>
            </a:r>
          </a:p>
          <a:p xmlns:a="http://schemas.openxmlformats.org/drawingml/2006/main">
            <a:pPr algn="l">
              <a:defRPr sz="825" b="1">
                <a:solidFill>
                  <a:srgbClr val="172F2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172F24"/>
                </a:solidFill>
                <a:latin typeface="Microsoft JhengHei"/>
                <a:ea typeface="Microsoft JhengHei"/>
                <a:cs typeface="Microsoft JhengHei"/>
              </a:rPr>
              <a:t>✓ CSV/Excel 匯入</a:t>
            </a:r>
          </a:p>
          <a:p xmlns:a="http://schemas.openxmlformats.org/drawingml/2006/main">
            <a:pPr algn="l">
              <a:defRPr sz="825" b="1">
                <a:solidFill>
                  <a:srgbClr val="172F2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172F24"/>
                </a:solidFill>
                <a:latin typeface="Microsoft JhengHei"/>
                <a:ea typeface="Microsoft JhengHei"/>
                <a:cs typeface="Microsoft JhengHei"/>
              </a:rPr>
              <a:t>✓ 草稿區與欄位檢核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6F733A-4540-4C35-83D5-2940357B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62150"/>
            <a:ext cx="9525" cy="441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9525">
            <a:solidFill>
              <a:srgbClr val="D8E5D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C2DA41-E21A-47E1-993F-84190654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80975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6384B"/>
                </a:solidFill>
                <a:latin typeface="Microsoft JhengHei"/>
                <a:ea typeface="Microsoft JhengHei"/>
                <a:cs typeface="Microsoft JhengHei"/>
              </a:rPr>
              <a:t>2026/5/1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AC0D29-9397-4EB8-9749-FCBFCD82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09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7F4"/>
          </a:solidFill>
          <a:ln xmlns:a="http://schemas.openxmlformats.org/drawingml/2006/main" w="28575">
            <a:solidFill>
              <a:srgbClr val="365C5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F7BD87-5B8B-4721-99B5-D5137F90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669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4B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D4B43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69F392-8690-41EB-A54C-F460B0F0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24150"/>
            <a:ext cx="1543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A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A433A"/>
                </a:solidFill>
                <a:latin typeface="Microsoft JhengHei"/>
                <a:ea typeface="Microsoft JhengHei"/>
                <a:cs typeface="Microsoft JhengHei"/>
              </a:rPr>
              <a:t>CMDB 匯入與盤點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46D7D6-79CF-4B93-B53C-F05F2B4D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81350"/>
            <a:ext cx="165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9525">
            <a:solidFill>
              <a:srgbClr val="D8E5D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574F04-2E3B-458F-8734-FCD313EC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14700"/>
            <a:ext cx="1524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83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283C4B"/>
                </a:solidFill>
                <a:latin typeface="Microsoft JhengHei"/>
                <a:ea typeface="Microsoft JhengHei"/>
                <a:cs typeface="Microsoft JhengHei"/>
              </a:rPr>
              <a:t>• 整理正式資產與草稿資料。</a:t>
            </a:r>
          </a:p>
          <a:p xmlns:a="http://schemas.openxmlformats.org/drawingml/2006/main">
            <a:pPr algn="l">
              <a:defRPr sz="825" b="0">
                <a:solidFill>
                  <a:srgbClr val="283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283C4B"/>
                </a:solidFill>
                <a:latin typeface="Microsoft JhengHei"/>
                <a:ea typeface="Microsoft JhengHei"/>
                <a:cs typeface="Microsoft JhengHei"/>
              </a:rPr>
              <a:t>• 建立錯誤列回報與匯出。</a:t>
            </a:r>
          </a:p>
          <a:p xmlns:a="http://schemas.openxmlformats.org/drawingml/2006/main">
            <a:pPr algn="l">
              <a:defRPr sz="825" b="0">
                <a:solidFill>
                  <a:srgbClr val="283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283C4B"/>
                </a:solidFill>
                <a:latin typeface="Microsoft JhengHei"/>
                <a:ea typeface="Microsoft JhengHei"/>
                <a:cs typeface="Microsoft JhengHei"/>
              </a:rPr>
              <a:t>• 補齊 owner/PAM/備註欄位。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4A5016-179C-416B-8F0F-5AB01663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514975"/>
            <a:ext cx="165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BBAE"/>
          </a:solidFill>
          <a:ln xmlns:a="http://schemas.openxmlformats.org/drawingml/2006/main" w="9525">
            <a:solidFill>
              <a:srgbClr val="94BBAE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B70AD3-C877-48A7-AF68-2B97AAB3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534025"/>
            <a:ext cx="1676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524579-2688-4416-A238-D477F4DD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63880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F2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172F24"/>
                </a:solidFill>
                <a:latin typeface="Microsoft JhengHei"/>
                <a:ea typeface="Microsoft JhengHei"/>
                <a:cs typeface="Microsoft JhengHei"/>
              </a:rPr>
              <a:t>✓ 錯誤摘要</a:t>
            </a:r>
          </a:p>
          <a:p xmlns:a="http://schemas.openxmlformats.org/drawingml/2006/main">
            <a:pPr algn="l">
              <a:defRPr sz="825" b="1">
                <a:solidFill>
                  <a:srgbClr val="172F2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172F24"/>
                </a:solidFill>
                <a:latin typeface="Microsoft JhengHei"/>
                <a:ea typeface="Microsoft JhengHei"/>
                <a:cs typeface="Microsoft JhengHei"/>
              </a:rPr>
              <a:t>✓ Excel/CSV 匯出</a:t>
            </a:r>
          </a:p>
          <a:p xmlns:a="http://schemas.openxmlformats.org/drawingml/2006/main">
            <a:pPr algn="l">
              <a:defRPr sz="825" b="1">
                <a:solidFill>
                  <a:srgbClr val="172F2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172F24"/>
                </a:solidFill>
                <a:latin typeface="Microsoft JhengHei"/>
                <a:ea typeface="Microsoft JhengHei"/>
                <a:cs typeface="Microsoft JhengHei"/>
              </a:rPr>
              <a:t>✓ 資料品質檢查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25BC7C-8A4F-49EC-BAD4-856A8AF1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62150"/>
            <a:ext cx="9525" cy="441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9525">
            <a:solidFill>
              <a:srgbClr val="D8E5D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A01B54-1885-4E45-BB65-D63B34CB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0975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6384B"/>
                </a:solidFill>
                <a:latin typeface="Microsoft JhengHei"/>
                <a:ea typeface="Microsoft JhengHei"/>
                <a:cs typeface="Microsoft JhengHei"/>
              </a:rPr>
              <a:t>2026/5/15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D9D8A0-1A57-40E8-9948-B42423D5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09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7F4"/>
          </a:solidFill>
          <a:ln xmlns:a="http://schemas.openxmlformats.org/drawingml/2006/main" w="28575">
            <a:solidFill>
              <a:srgbClr val="365C50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825203E-57BE-402C-AC9A-B52DC335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669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4B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D4B43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83DC7E-EB32-498E-94F1-AC71EB23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24150"/>
            <a:ext cx="1543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A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A433A"/>
                </a:solidFill>
                <a:latin typeface="Microsoft JhengHei"/>
                <a:ea typeface="Microsoft JhengHei"/>
                <a:cs typeface="Microsoft JhengHei"/>
              </a:rPr>
              <a:t>帳號與巡檢採證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78A190-2FFA-465A-B0F4-0936F011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81350"/>
            <a:ext cx="165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9525">
            <a:solidFill>
              <a:srgbClr val="D8E5D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854074B-4667-43CB-A561-10FD93D7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14700"/>
            <a:ext cx="1524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83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283C4B"/>
                </a:solidFill>
                <a:latin typeface="Microsoft JhengHei"/>
                <a:ea typeface="Microsoft JhengHei"/>
                <a:cs typeface="Microsoft JhengHei"/>
              </a:rPr>
              <a:t>• OS 帳號盤點。</a:t>
            </a:r>
          </a:p>
          <a:p xmlns:a="http://schemas.openxmlformats.org/drawingml/2006/main">
            <a:pPr algn="l">
              <a:defRPr sz="825" b="0">
                <a:solidFill>
                  <a:srgbClr val="283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283C4B"/>
                </a:solidFill>
                <a:latin typeface="Microsoft JhengHei"/>
                <a:ea typeface="Microsoft JhengHei"/>
                <a:cs typeface="Microsoft JhengHei"/>
              </a:rPr>
              <a:t>• AP 帳號 CSV/Excel 匯入。</a:t>
            </a:r>
          </a:p>
          <a:p xmlns:a="http://schemas.openxmlformats.org/drawingml/2006/main">
            <a:pPr algn="l">
              <a:defRPr sz="825" b="0">
                <a:solidFill>
                  <a:srgbClr val="283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283C4B"/>
                </a:solidFill>
                <a:latin typeface="Microsoft JhengHei"/>
                <a:ea typeface="Microsoft JhengHei"/>
                <a:cs typeface="Microsoft JhengHei"/>
              </a:rPr>
              <a:t>• 巡檢 L1/L2/L3 採證。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0D561A2-BB02-46C2-880E-C351A629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514975"/>
            <a:ext cx="165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BBAE"/>
          </a:solidFill>
          <a:ln xmlns:a="http://schemas.openxmlformats.org/drawingml/2006/main" w="9525">
            <a:solidFill>
              <a:srgbClr val="94BBAE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5FBB50A-643A-47EA-8930-16C6C0E3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534025"/>
            <a:ext cx="1676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502FBDF-5EA4-4966-A380-A3EE208B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63880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F2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172F24"/>
                </a:solidFill>
                <a:latin typeface="Microsoft JhengHei"/>
                <a:ea typeface="Microsoft JhengHei"/>
                <a:cs typeface="Microsoft JhengHei"/>
              </a:rPr>
              <a:t>✓ 帳號盤點</a:t>
            </a:r>
          </a:p>
          <a:p xmlns:a="http://schemas.openxmlformats.org/drawingml/2006/main">
            <a:pPr algn="l">
              <a:defRPr sz="825" b="1">
                <a:solidFill>
                  <a:srgbClr val="172F2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172F24"/>
                </a:solidFill>
                <a:latin typeface="Microsoft JhengHei"/>
                <a:ea typeface="Microsoft JhengHei"/>
                <a:cs typeface="Microsoft JhengHei"/>
              </a:rPr>
              <a:t>✓ AP 帳號匯入</a:t>
            </a:r>
          </a:p>
          <a:p xmlns:a="http://schemas.openxmlformats.org/drawingml/2006/main">
            <a:pPr algn="l">
              <a:defRPr sz="825" b="1">
                <a:solidFill>
                  <a:srgbClr val="172F2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172F24"/>
                </a:solidFill>
                <a:latin typeface="Microsoft JhengHei"/>
                <a:ea typeface="Microsoft JhengHei"/>
                <a:cs typeface="Microsoft JhengHei"/>
              </a:rPr>
              <a:t>✓ L3 深度檢查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93A4DFC-0D8D-4847-AEC9-33B20BE1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62150"/>
            <a:ext cx="9525" cy="441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9525">
            <a:solidFill>
              <a:srgbClr val="D8E5D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4F664F1-59FC-4A7A-8070-B239FA12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6384B"/>
                </a:solidFill>
                <a:latin typeface="Microsoft JhengHei"/>
                <a:ea typeface="Microsoft JhengHei"/>
                <a:cs typeface="Microsoft JhengHei"/>
              </a:rPr>
              <a:t>2026/6/1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18B25C4-55AA-423B-AE02-0219E855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09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7F4"/>
          </a:solidFill>
          <a:ln xmlns:a="http://schemas.openxmlformats.org/drawingml/2006/main" w="28575">
            <a:solidFill>
              <a:srgbClr val="365C50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B25448E-FB49-4582-BB23-61F8FFF3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669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4B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D4B43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CE5EAB0-B2B8-4656-8E04-A62E48BD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24150"/>
            <a:ext cx="1543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A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A433A"/>
                </a:solidFill>
                <a:latin typeface="Microsoft JhengHei"/>
                <a:ea typeface="Microsoft JhengHei"/>
                <a:cs typeface="Microsoft JhengHei"/>
              </a:rPr>
              <a:t>效能月報與 EOS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88D58E0-1C9E-4217-B886-FFA630A4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81350"/>
            <a:ext cx="165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9525">
            <a:solidFill>
              <a:srgbClr val="D8E5DF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74CF804-1618-4FF5-AF2C-396766F7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14700"/>
            <a:ext cx="1524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83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283C4B"/>
                </a:solidFill>
                <a:latin typeface="Microsoft JhengHei"/>
                <a:ea typeface="Microsoft JhengHei"/>
                <a:cs typeface="Microsoft JhengHei"/>
              </a:rPr>
              <a:t>• NMON raw 匯入與圖表化。</a:t>
            </a:r>
          </a:p>
          <a:p xmlns:a="http://schemas.openxmlformats.org/drawingml/2006/main">
            <a:pPr algn="l">
              <a:defRPr sz="825" b="0">
                <a:solidFill>
                  <a:srgbClr val="283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283C4B"/>
                </a:solidFill>
                <a:latin typeface="Microsoft JhengHei"/>
                <a:ea typeface="Microsoft JhengHei"/>
                <a:cs typeface="Microsoft JhengHei"/>
              </a:rPr>
              <a:t>• EOS 摘要整理。</a:t>
            </a:r>
          </a:p>
          <a:p xmlns:a="http://schemas.openxmlformats.org/drawingml/2006/main">
            <a:pPr algn="l">
              <a:defRPr sz="825" b="0">
                <a:solidFill>
                  <a:srgbClr val="283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283C4B"/>
                </a:solidFill>
                <a:latin typeface="Microsoft JhengHei"/>
                <a:ea typeface="Microsoft JhengHei"/>
                <a:cs typeface="Microsoft JhengHei"/>
              </a:rPr>
              <a:t>• 產出效能月報與主管摘要。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1007E7A-C8C9-4D6D-A569-32B2362F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14975"/>
            <a:ext cx="165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BBAE"/>
          </a:solidFill>
          <a:ln xmlns:a="http://schemas.openxmlformats.org/drawingml/2006/main" w="9525">
            <a:solidFill>
              <a:srgbClr val="94BBAE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85FA613-8898-4F61-ADF9-6CA3146F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534025"/>
            <a:ext cx="1676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CF7FD5F-CCC6-46D5-AE63-AFBF4490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3880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F2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172F24"/>
                </a:solidFill>
                <a:latin typeface="Microsoft JhengHei"/>
                <a:ea typeface="Microsoft JhengHei"/>
                <a:cs typeface="Microsoft JhengHei"/>
              </a:rPr>
              <a:t>✓ NMON 圖表</a:t>
            </a:r>
          </a:p>
          <a:p xmlns:a="http://schemas.openxmlformats.org/drawingml/2006/main">
            <a:pPr algn="l">
              <a:defRPr sz="825" b="1">
                <a:solidFill>
                  <a:srgbClr val="172F2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172F24"/>
                </a:solidFill>
                <a:latin typeface="Microsoft JhengHei"/>
                <a:ea typeface="Microsoft JhengHei"/>
                <a:cs typeface="Microsoft JhengHei"/>
              </a:rPr>
              <a:t>✓ EOS 摘要</a:t>
            </a:r>
          </a:p>
          <a:p xmlns:a="http://schemas.openxmlformats.org/drawingml/2006/main">
            <a:pPr algn="l">
              <a:defRPr sz="825" b="1">
                <a:solidFill>
                  <a:srgbClr val="172F2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172F24"/>
                </a:solidFill>
                <a:latin typeface="Microsoft JhengHei"/>
                <a:ea typeface="Microsoft JhengHei"/>
                <a:cs typeface="Microsoft JhengHei"/>
              </a:rPr>
              <a:t>✓ 效能月報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89AAB39-6DCC-4EF4-8142-22974E1F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62150"/>
            <a:ext cx="9525" cy="441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9525">
            <a:solidFill>
              <a:srgbClr val="D8E5DF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79CFC91-4A74-469A-8A26-8AC91DE6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0975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6384B"/>
                </a:solidFill>
                <a:latin typeface="Microsoft JhengHei"/>
                <a:ea typeface="Microsoft JhengHei"/>
                <a:cs typeface="Microsoft JhengHei"/>
              </a:rPr>
              <a:t>2026/6/15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BA7EBBF-812C-44C1-AF17-81E0F276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09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7F4"/>
          </a:solidFill>
          <a:ln xmlns:a="http://schemas.openxmlformats.org/drawingml/2006/main" w="28575">
            <a:solidFill>
              <a:srgbClr val="365C50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1FA5EDA-490B-4F48-8F6F-07D8C964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669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4B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D4B43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3591565-F70A-455E-A661-A9A35FB0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24150"/>
            <a:ext cx="1543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A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A433A"/>
                </a:solidFill>
                <a:latin typeface="Microsoft JhengHei"/>
                <a:ea typeface="Microsoft JhengHei"/>
                <a:cs typeface="Microsoft JhengHei"/>
              </a:rPr>
              <a:t>核心影響與 AI 判讀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767205A-26E7-45B5-97BD-44448879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81350"/>
            <a:ext cx="165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9525">
            <a:solidFill>
              <a:srgbClr val="D8E5DF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8FAE402-065D-4F63-B47D-7D2F585B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14700"/>
            <a:ext cx="1524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83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283C4B"/>
                </a:solidFill>
                <a:latin typeface="Microsoft JhengHei"/>
                <a:ea typeface="Microsoft JhengHei"/>
                <a:cs typeface="Microsoft JhengHei"/>
              </a:rPr>
              <a:t>• 三欄式核心系統影響圖。</a:t>
            </a:r>
          </a:p>
          <a:p xmlns:a="http://schemas.openxmlformats.org/drawingml/2006/main">
            <a:pPr algn="l">
              <a:defRPr sz="825" b="0">
                <a:solidFill>
                  <a:srgbClr val="283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283C4B"/>
                </a:solidFill>
                <a:latin typeface="Microsoft JhengHei"/>
                <a:ea typeface="Microsoft JhengHei"/>
                <a:cs typeface="Microsoft JhengHei"/>
              </a:rPr>
              <a:t>• 通知對象與影響清單。</a:t>
            </a:r>
          </a:p>
          <a:p xmlns:a="http://schemas.openxmlformats.org/drawingml/2006/main">
            <a:pPr algn="l">
              <a:defRPr sz="825" b="0">
                <a:solidFill>
                  <a:srgbClr val="283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283C4B"/>
                </a:solidFill>
                <a:latin typeface="Microsoft JhengHei"/>
                <a:ea typeface="Microsoft JhengHei"/>
                <a:cs typeface="Microsoft JhengHei"/>
              </a:rPr>
              <a:t>• L1/L2/L3 判讀與成本控管。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D31D007-5199-4DCA-A071-B2F5DFAB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14975"/>
            <a:ext cx="165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BBAE"/>
          </a:solidFill>
          <a:ln xmlns:a="http://schemas.openxmlformats.org/drawingml/2006/main" w="9525">
            <a:solidFill>
              <a:srgbClr val="94BBAE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E27F65B-A800-42C9-8A24-7D4626E2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5534025"/>
            <a:ext cx="1676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89C11EC-0A2C-4811-9B56-B9EB967E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63880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F2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172F24"/>
                </a:solidFill>
                <a:latin typeface="Microsoft JhengHei"/>
                <a:ea typeface="Microsoft JhengHei"/>
                <a:cs typeface="Microsoft JhengHei"/>
              </a:rPr>
              <a:t>✓ 核心影響圖</a:t>
            </a:r>
          </a:p>
          <a:p xmlns:a="http://schemas.openxmlformats.org/drawingml/2006/main">
            <a:pPr algn="l">
              <a:defRPr sz="825" b="1">
                <a:solidFill>
                  <a:srgbClr val="172F2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172F24"/>
                </a:solidFill>
                <a:latin typeface="Microsoft JhengHei"/>
                <a:ea typeface="Microsoft JhengHei"/>
                <a:cs typeface="Microsoft JhengHei"/>
              </a:rPr>
              <a:t>✓ 通知名單</a:t>
            </a:r>
          </a:p>
          <a:p xmlns:a="http://schemas.openxmlformats.org/drawingml/2006/main">
            <a:pPr algn="l">
              <a:defRPr sz="825" b="1">
                <a:solidFill>
                  <a:srgbClr val="172F2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172F24"/>
                </a:solidFill>
                <a:latin typeface="Microsoft JhengHei"/>
                <a:ea typeface="Microsoft JhengHei"/>
                <a:cs typeface="Microsoft JhengHei"/>
              </a:rPr>
              <a:t>✓ AI-ready/AI 判讀標示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FCEC3CE-2732-4E86-81D6-74088A76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62150"/>
            <a:ext cx="9525" cy="441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9525">
            <a:solidFill>
              <a:srgbClr val="D8E5DF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AF64104-ED93-49F7-8A6F-BEA952C1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80975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6384B"/>
                </a:solidFill>
                <a:latin typeface="Microsoft JhengHei"/>
                <a:ea typeface="Microsoft JhengHei"/>
                <a:cs typeface="Microsoft JhengHei"/>
              </a:rPr>
              <a:t>2026/7/15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FF43E5A-FF04-46D5-8B14-2DBFB2E1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09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7F4"/>
          </a:solidFill>
          <a:ln xmlns:a="http://schemas.openxmlformats.org/drawingml/2006/main" w="28575">
            <a:solidFill>
              <a:srgbClr val="365C50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3973474-FE3F-4478-A29A-0647A66C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669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D4B4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2D4B43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788A08E-A621-4445-B08F-B830CADD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24150"/>
            <a:ext cx="1543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A43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A433A"/>
                </a:solidFill>
                <a:latin typeface="Microsoft JhengHei"/>
                <a:ea typeface="Microsoft JhengHei"/>
                <a:cs typeface="Microsoft JhengHei"/>
              </a:rPr>
              <a:t>驗收與主線整合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32C1502-0EC7-40F8-8B83-4DD5DFD9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81350"/>
            <a:ext cx="165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DF"/>
          </a:solidFill>
          <a:ln xmlns:a="http://schemas.openxmlformats.org/drawingml/2006/main" w="9525">
            <a:solidFill>
              <a:srgbClr val="D8E5DF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5CB8CE2-80D2-4045-AD5F-DEF278E8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314700"/>
            <a:ext cx="1524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83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283C4B"/>
                </a:solidFill>
                <a:latin typeface="Microsoft JhengHei"/>
                <a:ea typeface="Microsoft JhengHei"/>
                <a:cs typeface="Microsoft JhengHei"/>
              </a:rPr>
              <a:t>• main 主線整理。</a:t>
            </a:r>
          </a:p>
          <a:p xmlns:a="http://schemas.openxmlformats.org/drawingml/2006/main">
            <a:pPr algn="l">
              <a:defRPr sz="825" b="0">
                <a:solidFill>
                  <a:srgbClr val="283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283C4B"/>
                </a:solidFill>
                <a:latin typeface="Microsoft JhengHei"/>
                <a:ea typeface="Microsoft JhengHei"/>
                <a:cs typeface="Microsoft JhengHei"/>
              </a:rPr>
              <a:t>• 離線安裝與 patch 文件化。</a:t>
            </a:r>
          </a:p>
          <a:p xmlns:a="http://schemas.openxmlformats.org/drawingml/2006/main">
            <a:pPr algn="l">
              <a:defRPr sz="825" b="0">
                <a:solidFill>
                  <a:srgbClr val="283C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283C4B"/>
                </a:solidFill>
                <a:latin typeface="Microsoft JhengHei"/>
                <a:ea typeface="Microsoft JhengHei"/>
                <a:cs typeface="Microsoft JhengHei"/>
              </a:rPr>
              <a:t>• 測試、部署、回滾與交接。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F645ADA-494A-46B1-A141-BEED6F22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514975"/>
            <a:ext cx="165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BBAE"/>
          </a:solidFill>
          <a:ln xmlns:a="http://schemas.openxmlformats.org/drawingml/2006/main" w="9525">
            <a:solidFill>
              <a:srgbClr val="94BBAE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B8713CF-A452-46F5-BF06-4FBB6C64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5534025"/>
            <a:ext cx="1676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BF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22C2EF6-F80D-4F3E-860B-FC945DB3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638800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2F2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172F24"/>
                </a:solidFill>
                <a:latin typeface="Microsoft JhengHei"/>
                <a:ea typeface="Microsoft JhengHei"/>
                <a:cs typeface="Microsoft JhengHei"/>
              </a:rPr>
              <a:t>✓ GitHub 文件入口</a:t>
            </a:r>
          </a:p>
          <a:p xmlns:a="http://schemas.openxmlformats.org/drawingml/2006/main">
            <a:pPr algn="l">
              <a:defRPr sz="825" b="1">
                <a:solidFill>
                  <a:srgbClr val="172F2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172F24"/>
                </a:solidFill>
                <a:latin typeface="Microsoft JhengHei"/>
                <a:ea typeface="Microsoft JhengHei"/>
                <a:cs typeface="Microsoft JhengHei"/>
              </a:rPr>
              <a:t>✓ 離線安裝 SOP</a:t>
            </a:r>
          </a:p>
          <a:p xmlns:a="http://schemas.openxmlformats.org/drawingml/2006/main">
            <a:pPr algn="l">
              <a:defRPr sz="825" b="1">
                <a:solidFill>
                  <a:srgbClr val="172F2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172F24"/>
                </a:solidFill>
                <a:latin typeface="Microsoft JhengHei"/>
                <a:ea typeface="Microsoft JhengHei"/>
                <a:cs typeface="Microsoft JhengHei"/>
              </a:rPr>
              <a:t>✓ patch/package 交付</a:t>
            </a:r>
          </a:p>
        </p:txBody>
      </p:sp>
    </p:spTree>
    <p:extLst>
      <p:ext uri="{BB962C8B-B14F-4D97-AF65-F5344CB8AC3E}">
        <p14:creationId xmlns:p14="http://schemas.microsoft.com/office/powerpoint/2010/main" val="14627444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2026-05-28T05:47:04.1090000Z</dcterms:created>
  <dcterms:modified xsi:type="dcterms:W3CDTF">2026-05-28T05:47:04.1090000Z</dcterms:modified>
</coreProperties>
</file>