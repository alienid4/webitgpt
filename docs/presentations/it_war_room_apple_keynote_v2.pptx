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5200" b="1">
                <a:solidFill>
                  <a:srgbClr val="141413"/>
                </a:solidFill>
                <a:latin typeface="Microsoft JhengHei"/>
              </a:defRPr>
            </a:pPr>
            <a:r>
              <a:rPr sz="5200" b="1">
                <a:solidFill>
                  <a:srgbClr val="141413"/>
                </a:solidFill>
                <a:latin typeface="Microsoft JhengHei"/>
              </a:rPr>
              <a:t>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8892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500" b="0">
                <a:solidFill>
                  <a:srgbClr val="0D5C47"/>
                </a:solidFill>
                <a:latin typeface="Microsoft JhengHei"/>
              </a:defRPr>
            </a:pPr>
            <a:r>
              <a:rPr sz="2500" b="0">
                <a:solidFill>
                  <a:srgbClr val="0D5C47"/>
                </a:solidFill>
                <a:latin typeface="Microsoft JhengHei"/>
              </a:rPr>
              <a:t>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703320"/>
            <a:ext cx="2011680" cy="41148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0D5C47"/>
                </a:solidFill>
                <a:latin typeface="Microsoft JhengHei"/>
              </a:defRPr>
            </a:pPr>
            <a:r>
              <a:rPr sz="1100" b="1">
                <a:solidFill>
                  <a:srgbClr val="0D5C47"/>
                </a:solidFill>
                <a:latin typeface="Microsoft JhengHei"/>
              </a:rPr>
              <a:t>IT Inspection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Excel??????IP 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?????????????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????PAM?????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2148840"/>
            <a:ext cx="242316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3999" y="214884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7" y="2313432"/>
            <a:ext cx="2103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715768"/>
            <a:ext cx="210312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400" b="1">
                <a:solidFill>
                  <a:srgbClr val="141413"/>
                </a:solidFill>
                <a:latin typeface="Microsoft JhengHei"/>
              </a:defRPr>
            </a:pPr>
            <a:r>
              <a:rPr sz="2400" b="1">
                <a:solidFill>
                  <a:srgbClr val="141413"/>
                </a:solidFill>
                <a:latin typeface="Microsoft JhengHei"/>
              </a:rPr>
              <a:t>???????????????????????????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412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900" b="1">
                <a:solidFill>
                  <a:srgbClr val="141413"/>
                </a:solidFill>
                <a:latin typeface="Microsoft JhengHei"/>
              </a:defRPr>
            </a:pPr>
            <a:r>
              <a:rPr sz="3900" b="1">
                <a:solidFill>
                  <a:srgbClr val="141413"/>
                </a:solidFill>
                <a:latin typeface="Microsoft JhengHei"/>
              </a:rPr>
              <a:t>? IT ??????????????</a:t>
            </a:r>
          </a:p>
        </p:txBody>
      </p:sp>
      <p:sp>
        <p:nvSpPr>
          <p:cNvPr id="3" name="Oval 2"/>
          <p:cNvSpPr/>
          <p:nvPr/>
        </p:nvSpPr>
        <p:spPr>
          <a:xfrm>
            <a:off x="96012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1284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20040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5312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4068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9340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68096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33688" y="3639312"/>
            <a:ext cx="850392" cy="0"/>
          </a:xfrm>
          <a:prstGeom prst="line">
            <a:avLst/>
          </a:prstGeom>
          <a:ln w="2794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921240" y="301752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5C47"/>
                </a:solidFill>
                <a:latin typeface="Microsoft JhengHei"/>
              </a:defRPr>
            </a:pPr>
            <a:r>
              <a:rPr sz="15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0">
                <a:solidFill>
                  <a:srgbClr val="707070"/>
                </a:solidFill>
                <a:latin typeface="Microsoft JhengHei"/>
              </a:defRPr>
            </a:pPr>
            <a:r>
              <a:rPr sz="2200" b="0">
                <a:solidFill>
                  <a:srgbClr val="707070"/>
                </a:solidFill>
                <a:latin typeface="Microsoft JhengHei"/>
              </a:rPr>
              <a:t>????????????????????????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 8 / ?? 1 / ??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00200"/>
            <a:ext cx="274320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4487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7" y="2130552"/>
            <a:ext cx="2423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2715768"/>
            <a:ext cx="242316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 filesystem?/ 77%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00200"/>
            <a:ext cx="233172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60020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76479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130552"/>
            <a:ext cx="20116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715768"/>
            <a:ext cx="2011679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???????????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00200"/>
            <a:ext cx="233172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60020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76479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130552"/>
            <a:ext cx="20116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715768"/>
            <a:ext cx="2011679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??? 3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CPU / MEM / SWAP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19" y="3200400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3200400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364992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767328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19" y="3913632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913632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76488" y="4078224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480560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4626864"/>
            <a:ext cx="54864" cy="530352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7316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OK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19" y="4626864"/>
            <a:ext cx="3063240" cy="5303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19" y="4626864"/>
            <a:ext cx="54864" cy="530352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76488" y="4791456"/>
            <a:ext cx="2743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6488" y="5193792"/>
            <a:ext cx="2743200" cy="-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WARN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?????????????????????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CMDB / Excel /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21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661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IPAM / nmap ???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253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SSH / WinRM / AIX SSH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68512" y="2606040"/>
            <a:ext cx="384048" cy="0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92024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2084832"/>
            <a:ext cx="20116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487168"/>
            <a:ext cx="2011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 / ?? / PAM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 IP ?????????????????????????? Excel ??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??????????????????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4864" cy="3611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??????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0D5C47"/>
                </a:solidFill>
                <a:latin typeface="Microsoft JhengHei"/>
              </a:defRPr>
            </a:pPr>
            <a:r>
              <a:rPr sz="16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?? L3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?????-Rocky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E87C07"/>
                </a:solidFill>
                <a:latin typeface="Microsoft JhengHei"/>
              </a:defRPr>
            </a:pPr>
            <a:r>
              <a:rPr sz="1600" b="1">
                <a:solidFill>
                  <a:srgbClr val="E87C07"/>
                </a:solidFill>
                <a:latin typeface="Microsoft JhengHei"/>
              </a:rPr>
              <a:t>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?? 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600200"/>
            <a:ext cx="3246120" cy="3611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600200"/>
            <a:ext cx="54864" cy="36118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1764792"/>
            <a:ext cx="29260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HOST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167128"/>
            <a:ext cx="2926079" cy="288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549640" y="1965960"/>
            <a:ext cx="2194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?????-Debian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1413"/>
                </a:solidFill>
                <a:latin typeface="Microsoft JhengHei"/>
              </a:defRPr>
            </a:pPr>
            <a:r>
              <a:rPr sz="1800" b="1">
                <a:solidFill>
                  <a:srgbClr val="141413"/>
                </a:solidFill>
                <a:latin typeface="Microsoft JhengHei"/>
              </a:rPr>
              <a:t>92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1280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E87C07"/>
                </a:solidFill>
                <a:latin typeface="Microsoft JhengHei"/>
              </a:defRPr>
            </a:pPr>
            <a:r>
              <a:rPr sz="1600" b="1">
                <a:solidFill>
                  <a:srgbClr val="E87C07"/>
                </a:solidFill>
                <a:latin typeface="Microsoft JhengHei"/>
              </a:rPr>
              <a:t>??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794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0">
                <a:solidFill>
                  <a:srgbClr val="141413"/>
                </a:solidFill>
                <a:latin typeface="Microsoft JhengHei"/>
              </a:defRPr>
            </a:pPr>
            <a:r>
              <a:rPr sz="1300" b="0">
                <a:solidFill>
                  <a:srgbClr val="141413"/>
                </a:solidFill>
                <a:latin typeface="Microsoft JhengHei"/>
              </a:rPr>
              <a:t>CPU 9%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Memory 74%</a:t>
            </a:r>
            <a:br/>
            <a:r>
              <a:rPr sz="1300" b="0">
                <a:solidFill>
                  <a:srgbClr val="141413"/>
                </a:solidFill>
                <a:latin typeface="Microsoft JhengHei"/>
              </a:rPr>
              <a:t>Filesystem / 77%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4892040"/>
            <a:ext cx="1234440" cy="347472"/>
          </a:xfrm>
          <a:prstGeom prst="roundRect">
            <a:avLst/>
          </a:prstGeom>
          <a:solidFill>
            <a:srgbClr val="26A889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?? 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51560"/>
            <a:ext cx="10058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50" b="0">
                <a:solidFill>
                  <a:srgbClr val="707070"/>
                </a:solidFill>
                <a:latin typeface="Microsoft JhengHei"/>
              </a:defRPr>
            </a:pPr>
            <a:r>
              <a:rPr sz="1250" b="0">
                <a:solidFill>
                  <a:srgbClr val="707070"/>
                </a:solidFill>
                <a:latin typeface="Microsoft JhengHei"/>
              </a:rPr>
              <a:t>PASS ??????WARN ???????????????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3429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 dropped counter ????????????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45920"/>
            <a:ext cx="2971800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810512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212848"/>
            <a:ext cx="2651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NET-02?dropped=17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Filesystem?/ 77%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Service?? failed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3749039" cy="3429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54864" cy="3429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810512"/>
            <a:ext cx="342899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2212848"/>
            <a:ext cx="3428999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1. ????????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2. ??????? VM / ???????</a:t>
            </a:r>
            <a:br/>
            <a:r>
              <a:rPr sz="1500" b="0">
                <a:solidFill>
                  <a:srgbClr val="141413"/>
                </a:solidFill>
                <a:latin typeface="Microsoft JhengHei"/>
              </a:rPr>
              <a:t>3. ?????????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516636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PAM 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740664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64592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19202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164592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810512"/>
            <a:ext cx="1600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176272"/>
            <a:ext cx="16002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761488"/>
            <a:ext cx="16002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14400" y="3749039"/>
            <a:ext cx="10241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700" b="1">
                <a:solidFill>
                  <a:srgbClr val="141413"/>
                </a:solidFill>
                <a:latin typeface="Microsoft JhengHei"/>
              </a:defRPr>
            </a:pPr>
            <a:r>
              <a:rPr sz="2700" b="1">
                <a:solidFill>
                  <a:srgbClr val="141413"/>
                </a:solidFill>
                <a:latin typeface="Microsoft JhengHei"/>
              </a:rPr>
              <a:t>?????????????????????????????????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PAM 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892040"/>
            <a:ext cx="1828800" cy="438912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?????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 raw data?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??? NMON ??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554480"/>
            <a:ext cx="54864" cy="114300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2377440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554480"/>
            <a:ext cx="54864" cy="114300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7190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084831"/>
            <a:ext cx="2057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41413"/>
                </a:solidFill>
                <a:latin typeface="Consolas"/>
              </a:defRPr>
            </a:pPr>
            <a:r>
              <a:rPr sz="3200" b="1">
                <a:solidFill>
                  <a:srgbClr val="141413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670048"/>
            <a:ext cx="2057400" cy="-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707070"/>
                </a:solidFill>
                <a:latin typeface="Microsoft JhengHei"/>
              </a:defRPr>
            </a:pPr>
            <a:r>
              <a:rPr sz="1150" b="0">
                <a:solidFill>
                  <a:srgbClr val="707070"/>
                </a:solidFill>
                <a:latin typeface="Microsoft JhengHei"/>
              </a:rPr>
              <a:t>?????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166360"/>
            <a:ext cx="9875520" cy="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246120"/>
            <a:ext cx="0" cy="1920240"/>
          </a:xfrm>
          <a:prstGeom prst="line">
            <a:avLst/>
          </a:prstGeom>
          <a:ln w="12700">
            <a:solidFill>
              <a:srgbClr val="BE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88720" y="4526279"/>
            <a:ext cx="1645920" cy="18288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834640" y="4343400"/>
            <a:ext cx="1554480" cy="182879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89120" y="4206240"/>
            <a:ext cx="1645920" cy="137160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035040" y="3995928"/>
            <a:ext cx="1737360" cy="210312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72400" y="3904487"/>
            <a:ext cx="2286000" cy="91441"/>
          </a:xfrm>
          <a:prstGeom prst="line">
            <a:avLst/>
          </a:prstGeom>
          <a:ln w="381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133856" y="465429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2779776" y="447141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7" name="Oval 26"/>
          <p:cNvSpPr/>
          <p:nvPr/>
        </p:nvSpPr>
        <p:spPr>
          <a:xfrm>
            <a:off x="4334256" y="428853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5980176" y="4151376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9" name="Oval 28"/>
          <p:cNvSpPr/>
          <p:nvPr/>
        </p:nvSpPr>
        <p:spPr>
          <a:xfrm>
            <a:off x="7717536" y="394106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30" name="Oval 29"/>
          <p:cNvSpPr/>
          <p:nvPr/>
        </p:nvSpPr>
        <p:spPr>
          <a:xfrm>
            <a:off x="10003536" y="3849624"/>
            <a:ext cx="109728" cy="109728"/>
          </a:xfrm>
          <a:prstGeom prst="ellipse">
            <a:avLst/>
          </a:prstGeom>
          <a:solidFill>
            <a:srgbClr val="26A889"/>
          </a:solidFill>
          <a:ln w="2540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700" b="0">
                <a:solidFill>
                  <a:srgbClr val="707070"/>
                </a:solidFill>
                <a:latin typeface="Microsoft JhengHei"/>
              </a:defRPr>
            </a:pPr>
            <a:r>
              <a:rPr sz="1700" b="0">
                <a:solidFill>
                  <a:srgbClr val="707070"/>
                </a:solidFill>
                <a:latin typeface="Microsoft JhengHei"/>
              </a:rPr>
              <a:t>?? CPU????????????????raw file ????????????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2697480"/>
            <a:ext cx="1234440" cy="1234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0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1413"/>
                </a:solidFill>
                <a:latin typeface="Microsoft JhengHei"/>
              </a:defRPr>
            </a:pPr>
            <a:r>
              <a:rPr sz="1600" b="1">
                <a:solidFill>
                  <a:srgbClr val="141413"/>
                </a:solidFill>
                <a:latin typeface="Microsoft JhengHei"/>
              </a:rPr>
              <a:t>??</a:t>
            </a:r>
            <a:br/>
            <a:r>
              <a:rPr sz="1600" b="1">
                <a:solidFill>
                  <a:srgbClr val="141413"/>
                </a:solidFill>
                <a:latin typeface="Microsoft JhengHei"/>
              </a:rPr>
              <a:t>??</a:t>
            </a:r>
          </a:p>
        </p:txBody>
      </p:sp>
      <p:sp>
        <p:nvSpPr>
          <p:cNvPr id="4" name="Oval 3"/>
          <p:cNvSpPr/>
          <p:nvPr/>
        </p:nvSpPr>
        <p:spPr>
          <a:xfrm>
            <a:off x="3154680" y="150876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</a:p>
        </p:txBody>
      </p:sp>
      <p:sp>
        <p:nvSpPr>
          <p:cNvPr id="5" name="Oval 4"/>
          <p:cNvSpPr/>
          <p:nvPr/>
        </p:nvSpPr>
        <p:spPr>
          <a:xfrm>
            <a:off x="3154680" y="292608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C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</a:p>
        </p:txBody>
      </p:sp>
      <p:sp>
        <p:nvSpPr>
          <p:cNvPr id="6" name="Oval 5"/>
          <p:cNvSpPr/>
          <p:nvPr/>
        </p:nvSpPr>
        <p:spPr>
          <a:xfrm>
            <a:off x="3154680" y="43434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1413"/>
                </a:solidFill>
                <a:latin typeface="Microsoft JhengHei"/>
              </a:defRPr>
            </a:pPr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  <a:br/>
            <a:r>
              <a:rPr sz="1400" b="1">
                <a:solidFill>
                  <a:srgbClr val="141413"/>
                </a:solidFill>
                <a:latin typeface="Microsoft JhengHei"/>
              </a:rPr>
              <a:t>??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103120" y="2057400"/>
            <a:ext cx="1051560" cy="1261872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03120" y="3319272"/>
            <a:ext cx="1051560" cy="15544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3120" y="3319272"/>
            <a:ext cx="1051560" cy="157276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23560" y="13258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AP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297680" y="1581912"/>
            <a:ext cx="1325880" cy="18928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23560" y="22402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DB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297680" y="2496312"/>
            <a:ext cx="1325880" cy="9784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23560" y="31546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Batch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297680" y="3410712"/>
            <a:ext cx="1325880" cy="64008"/>
          </a:xfrm>
          <a:prstGeom prst="line">
            <a:avLst/>
          </a:prstGeom>
          <a:ln w="2540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23560" y="40690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FE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3474720"/>
            <a:ext cx="1325880" cy="8503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23560" y="4983480"/>
            <a:ext cx="1600200" cy="5029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0D5C47"/>
                </a:solidFill>
                <a:latin typeface="Microsoft JhengHei"/>
              </a:defRPr>
            </a:pPr>
            <a:r>
              <a:rPr sz="1400" b="1">
                <a:solidFill>
                  <a:srgbClr val="0D5C47"/>
                </a:solidFill>
                <a:latin typeface="Microsoft JhengHei"/>
              </a:rPr>
              <a:t>PAM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7680" y="3474720"/>
            <a:ext cx="1325880" cy="1764792"/>
          </a:xfrm>
          <a:prstGeom prst="line">
            <a:avLst/>
          </a:prstGeom>
          <a:ln w="15240">
            <a:solidFill>
              <a:srgbClr val="26A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58200" y="182880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23760" y="205740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58200" y="265176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60" y="288036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58200" y="3474720"/>
            <a:ext cx="1783080" cy="457200"/>
          </a:xfrm>
          <a:prstGeom prst="roundRect">
            <a:avLst/>
          </a:prstGeom>
          <a:solidFill>
            <a:srgbClr val="EBF7E8"/>
          </a:solidFill>
          <a:ln w="17780">
            <a:solidFill>
              <a:srgbClr val="26A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41413"/>
                </a:solidFill>
                <a:latin typeface="Microsoft JhengHei"/>
              </a:defRPr>
            </a:pPr>
            <a:r>
              <a:rPr sz="1200" b="1">
                <a:solidFill>
                  <a:srgbClr val="141413"/>
                </a:solidFill>
                <a:latin typeface="Microsoft JhengHei"/>
              </a:rPr>
              <a:t>10.1.4.23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3703320"/>
            <a:ext cx="1234440" cy="0"/>
          </a:xfrm>
          <a:prstGeom prst="line">
            <a:avLst/>
          </a:prstGeom>
          <a:ln w="21590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38160" y="4983480"/>
            <a:ext cx="33832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41413"/>
                </a:solidFill>
                <a:latin typeface="Microsoft JhengHei"/>
              </a:defRPr>
            </a:pPr>
            <a:r>
              <a:rPr sz="2100" b="1">
                <a:solidFill>
                  <a:srgbClr val="141413"/>
                </a:solidFill>
                <a:latin typeface="Microsoft JhengHei"/>
              </a:rPr>
              <a:t>????????????????????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AI ???? debug?????? VM?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VM 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log /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bundle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66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 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Codex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240280"/>
            <a:ext cx="1874519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38360" y="2240280"/>
            <a:ext cx="54864" cy="13258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404872"/>
            <a:ext cx="1554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807208"/>
            <a:ext cx="1554479" cy="594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87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73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59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45168" y="2880360"/>
            <a:ext cx="365760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900" b="1">
                <a:solidFill>
                  <a:srgbClr val="141413"/>
                </a:solidFill>
                <a:latin typeface="Microsoft JhengHei"/>
              </a:defRPr>
            </a:pPr>
            <a:r>
              <a:rPr sz="2900" b="1">
                <a:solidFill>
                  <a:srgbClr val="141413"/>
                </a:solidFill>
                <a:latin typeface="Microsoft JhengHei"/>
              </a:rPr>
              <a:t>???AI ??????????????? VM?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SSH / WinRM / nmap / NMON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 / ?? / 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Dashboard / ?? / ??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86000"/>
            <a:ext cx="224028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2286000"/>
            <a:ext cx="54864" cy="141732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450592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??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852928"/>
            <a:ext cx="1920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MongoDB / Log / Audit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821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253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68512" y="2971800"/>
            <a:ext cx="429768" cy="0"/>
          </a:xfrm>
          <a:prstGeom prst="line">
            <a:avLst/>
          </a:prstGeom>
          <a:ln w="29209">
            <a:solidFill>
              <a:srgbClr val="26A8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5840" y="4937760"/>
            <a:ext cx="10058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200" b="0">
                <a:solidFill>
                  <a:srgbClr val="707070"/>
                </a:solidFill>
                <a:latin typeface="Microsoft JhengHei"/>
              </a:defRPr>
            </a:pPr>
            <a:r>
              <a:rPr sz="2200" b="0">
                <a:solidFill>
                  <a:srgbClr val="707070"/>
                </a:solidFill>
                <a:latin typeface="Microsoft JhengHei"/>
              </a:rPr>
              <a:t>?????????????????????????????????????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1">
                <a:solidFill>
                  <a:srgbClr val="141413"/>
                </a:solidFill>
                <a:latin typeface="Microsoft JhengHei"/>
              </a:defRPr>
            </a:pPr>
            <a:r>
              <a:rPr sz="2800" b="1">
                <a:solidFill>
                  <a:srgbClr val="141413"/>
                </a:solidFill>
                <a:latin typeface="Microsoft JhengHei"/>
              </a:rPr>
              <a:t>???????????????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2011680"/>
            <a:ext cx="54864" cy="2011680"/>
          </a:xfrm>
          <a:prstGeom prst="rect">
            <a:avLst/>
          </a:prstGeom>
          <a:solidFill>
            <a:srgbClr val="26A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??????AI Debug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011680"/>
            <a:ext cx="2377440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2011680"/>
            <a:ext cx="54864" cy="2011680"/>
          </a:xfrm>
          <a:prstGeom prst="rect">
            <a:avLst/>
          </a:prstGeom>
          <a:solidFill>
            <a:srgbClr val="E87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2176272"/>
            <a:ext cx="2057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0D5C47"/>
                </a:solidFill>
                <a:latin typeface="Microsoft JhengHei"/>
              </a:defRPr>
            </a:pPr>
            <a:r>
              <a:rPr sz="1200" b="1">
                <a:solidFill>
                  <a:srgbClr val="0D5C47"/>
                </a:solidFill>
                <a:latin typeface="Microsoft JhengHei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578608"/>
            <a:ext cx="2057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141413"/>
                </a:solidFill>
                <a:latin typeface="Microsoft JhengHei"/>
              </a:defRPr>
            </a:pPr>
            <a:r>
              <a:rPr sz="1500" b="0">
                <a:solidFill>
                  <a:srgbClr val="141413"/>
                </a:solidFill>
                <a:latin typeface="Microsoft JhengHei"/>
              </a:rPr>
              <a:t>??????????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10241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600" b="1">
                <a:solidFill>
                  <a:srgbClr val="141413"/>
                </a:solidFill>
                <a:latin typeface="Microsoft JhengHei"/>
              </a:defRPr>
            </a:pPr>
            <a:r>
              <a:rPr sz="2600" b="1">
                <a:solidFill>
                  <a:srgbClr val="141413"/>
                </a:solidFill>
                <a:latin typeface="Microsoft JhengHei"/>
              </a:rPr>
              <a:t>????????????????????????????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200" b="1">
                <a:solidFill>
                  <a:srgbClr val="141413"/>
                </a:solidFill>
                <a:latin typeface="Microsoft JhengHei"/>
              </a:defRPr>
            </a:pPr>
            <a:r>
              <a:rPr sz="4200" b="1">
                <a:solidFill>
                  <a:srgbClr val="141413"/>
                </a:solidFill>
                <a:latin typeface="Microsoft JhengHei"/>
              </a:rPr>
              <a:t>? IT 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246120"/>
            <a:ext cx="9144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2600" b="1">
                <a:solidFill>
                  <a:srgbClr val="0D5C47"/>
                </a:solidFill>
                <a:latin typeface="Microsoft JhengHei"/>
              </a:defRPr>
            </a:pPr>
            <a:r>
              <a:rPr sz="2600" b="1">
                <a:solidFill>
                  <a:srgbClr val="0D5C47"/>
                </a:solidFill>
                <a:latin typeface="Microsoft JhengHei"/>
              </a:rPr>
              <a:t>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7315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50" b="0">
                <a:solidFill>
                  <a:srgbClr val="707070"/>
                </a:solidFill>
                <a:latin typeface="Microsoft JhengHei"/>
              </a:defRPr>
            </a:pPr>
            <a:r>
              <a:rPr sz="850" b="0">
                <a:solidFill>
                  <a:srgbClr val="707070"/>
                </a:solidFill>
                <a:latin typeface="Microsoft JhengHei"/>
              </a:rPr>
              <a:t>????? / Apple-style concept v2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