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74519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200" b="1">
                <a:solidFill>
                  <a:srgbClr val="141413"/>
                </a:solidFill>
                <a:latin typeface="Microsoft JhengHei"/>
              </a:defRPr>
            </a:pPr>
            <a:r>
              <a:rPr sz="5200" b="1">
                <a:solidFill>
                  <a:srgbClr val="141413"/>
                </a:solidFill>
                <a:latin typeface="Microsoft JhengHei"/>
              </a:rPr>
              <a:t>資訊戰情室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788920"/>
            <a:ext cx="9875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0">
                <a:solidFill>
                  <a:srgbClr val="0D5C47"/>
                </a:solidFill>
                <a:latin typeface="Microsoft JhengHei"/>
              </a:defRPr>
            </a:pPr>
            <a:r>
              <a:rPr sz="2500" b="0">
                <a:solidFill>
                  <a:srgbClr val="0D5C47"/>
                </a:solidFill>
                <a:latin typeface="Microsoft JhengHei"/>
              </a:rPr>
              <a:t>一個畫面，看見資產、健康與風險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703320"/>
            <a:ext cx="2011680" cy="41148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0D5C47"/>
                </a:solidFill>
                <a:latin typeface="Microsoft JhengHei"/>
              </a:defRPr>
            </a:pPr>
            <a:r>
              <a:rPr sz="1100" b="1">
                <a:solidFill>
                  <a:srgbClr val="0D5C47"/>
                </a:solidFill>
                <a:latin typeface="Microsoft JhengHei"/>
              </a:rPr>
              <a:t>IT Inspection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今天的問題，不是沒有資料。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0">
                <a:solidFill>
                  <a:srgbClr val="707070"/>
                </a:solidFill>
                <a:latin typeface="Microsoft JhengHei"/>
              </a:defRPr>
            </a:pPr>
            <a:r>
              <a:rPr sz="1250" b="0">
                <a:solidFill>
                  <a:srgbClr val="707070"/>
                </a:solidFill>
                <a:latin typeface="Microsoft JhengHei"/>
              </a:rPr>
              <a:t>是資料分散、格式不同，而且很難相信。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資產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Excel、人工填寫、IP 衝突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巡檢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每天看很多畫面，卻缺少結論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7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帳號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高權限、PAM、異動難追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3999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7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故障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出事後才開始找影響範圍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400" b="1">
                <a:solidFill>
                  <a:srgbClr val="141413"/>
                </a:solidFill>
                <a:latin typeface="Microsoft JhengHei"/>
              </a:defRPr>
            </a:pPr>
            <a:r>
              <a:rPr sz="2400" b="1">
                <a:solidFill>
                  <a:srgbClr val="141413"/>
                </a:solidFill>
                <a:latin typeface="Microsoft JhengHei"/>
              </a:rPr>
              <a:t>結果：維運人員花時間整理資料，主管仍然看不到真正風險。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2412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900" b="1">
                <a:solidFill>
                  <a:srgbClr val="141413"/>
                </a:solidFill>
                <a:latin typeface="Microsoft JhengHei"/>
              </a:defRPr>
            </a:pPr>
            <a:r>
              <a:rPr sz="3900" b="1">
                <a:solidFill>
                  <a:srgbClr val="141413"/>
                </a:solidFill>
                <a:latin typeface="Microsoft JhengHei"/>
              </a:rPr>
              <a:t>把 IT 狀態，收斂成一個可信任畫面。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資產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1284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20040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開門檢查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45312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4068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帳號盤點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9340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68096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效能月報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3368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92124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系統拓撲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0">
                <a:solidFill>
                  <a:srgbClr val="707070"/>
                </a:solidFill>
                <a:latin typeface="Microsoft JhengHei"/>
              </a:defRPr>
            </a:pPr>
            <a:r>
              <a:rPr sz="2200" b="0">
                <a:solidFill>
                  <a:srgbClr val="707070"/>
                </a:solidFill>
                <a:latin typeface="Microsoft JhengHei"/>
              </a:rPr>
              <a:t>不是取代工程師，而是讓工程師和主管看同一份證據。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每天開門第一眼，知道哪裡要處理。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274320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64792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總體狀態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2423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15768"/>
            <a:ext cx="242316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正常 8 / 警示 1 / 待檢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274320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160020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7" y="1764792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磁碟警戒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7" y="2130552"/>
            <a:ext cx="2423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715768"/>
            <a:ext cx="242316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最高 filesystem：/ 77%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00200"/>
            <a:ext cx="233172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60020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76479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帳號風險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130552"/>
            <a:ext cx="2011679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715768"/>
            <a:ext cx="2011679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服務帳號可登入，需複核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00200"/>
            <a:ext cx="233172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60020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76479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本日巡檢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130552"/>
            <a:ext cx="2011679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715768"/>
            <a:ext cx="2011679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已完成 3 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連線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CPU / MEM / SWAP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19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檔案系統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程序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服務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19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7648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帳號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4626864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安全設定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0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0" y="4626864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7316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套件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316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5319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19" y="4626864"/>
            <a:ext cx="54864" cy="530352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648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系統日誌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648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WARN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資產管理，先解決「可信任」。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0">
                <a:solidFill>
                  <a:srgbClr val="707070"/>
                </a:solidFill>
                <a:latin typeface="Microsoft JhengHei"/>
              </a:defRPr>
            </a:pPr>
            <a:r>
              <a:rPr sz="1250" b="0">
                <a:solidFill>
                  <a:srgbClr val="707070"/>
                </a:solidFill>
                <a:latin typeface="Microsoft JhengHei"/>
              </a:rPr>
              <a:t>人工資料、掃描結果、實際盤點，必須能對帳。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人工匯入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CMDB / Excel / CSV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821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主動掃描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IPAM / nmap 建草稿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253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實際盤點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SSH / WinRM / AIX SSH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85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治理狀態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等待防火牆 / 弱掃 / PAM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有 IP 但沒有資產、資產下線但未註記，會變成清單，而不是藏在 Excel 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開門檢查，只講重點。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0">
                <a:solidFill>
                  <a:srgbClr val="707070"/>
                </a:solidFill>
                <a:latin typeface="Microsoft JhengHei"/>
              </a:defRPr>
            </a:pPr>
            <a:r>
              <a:rPr sz="1250" b="0">
                <a:solidFill>
                  <a:srgbClr val="707070"/>
                </a:solidFill>
                <a:latin typeface="Microsoft JhengHei"/>
              </a:rPr>
              <a:t>每台主機先看小卡；需要時再展開證據。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4864" cy="3611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HOST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41413"/>
                </a:solidFill>
                <a:latin typeface="Microsoft JhengHei"/>
              </a:defRPr>
            </a:pPr>
            <a:r>
              <a:rPr sz="1600" b="1">
                <a:solidFill>
                  <a:srgbClr val="141413"/>
                </a:solidFill>
                <a:latin typeface="Microsoft JhengHei"/>
              </a:rPr>
              <a:t>巡檢系統主機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1413"/>
                </a:solidFill>
                <a:latin typeface="Microsoft JhengHei"/>
              </a:defRPr>
            </a:pPr>
            <a:r>
              <a:rPr sz="1800" b="1">
                <a:solidFill>
                  <a:srgbClr val="141413"/>
                </a:solidFill>
                <a:latin typeface="Microsoft JhengHei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0D5C47"/>
                </a:solidFill>
                <a:latin typeface="Microsoft JhengHei"/>
              </a:defRPr>
            </a:pPr>
            <a:r>
              <a:rPr sz="1600" b="1">
                <a:solidFill>
                  <a:srgbClr val="0D5C47"/>
                </a:solidFill>
                <a:latin typeface="Microsoft JhengHei"/>
              </a:rPr>
              <a:t>正常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>
                <a:solidFill>
                  <a:srgbClr val="141413"/>
                </a:solidFill>
                <a:latin typeface="Microsoft JhengHei"/>
              </a:defRPr>
            </a:pPr>
            <a:r>
              <a:rPr sz="1300" b="0">
                <a:solidFill>
                  <a:srgbClr val="141413"/>
                </a:solidFill>
                <a:latin typeface="Microsoft JhengHei"/>
              </a:rPr>
              <a:t>CPU 9%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Memory 74%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Filesystem / 77%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執行 L3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54864" cy="36118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HOST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75488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41413"/>
                </a:solidFill>
                <a:latin typeface="Microsoft JhengHei"/>
              </a:defRPr>
            </a:pPr>
            <a:r>
              <a:rPr sz="1600" b="1">
                <a:solidFill>
                  <a:srgbClr val="141413"/>
                </a:solidFill>
                <a:latin typeface="Microsoft JhengHei"/>
              </a:rPr>
              <a:t>受監控主機-Rocky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1413"/>
                </a:solidFill>
                <a:latin typeface="Microsoft JhengHei"/>
              </a:defRPr>
            </a:pPr>
            <a:r>
              <a:rPr sz="1800" b="1">
                <a:solidFill>
                  <a:srgbClr val="141413"/>
                </a:solidFill>
                <a:latin typeface="Microsoft JhengHei"/>
              </a:rPr>
              <a:t>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E87C07"/>
                </a:solidFill>
                <a:latin typeface="Microsoft JhengHei"/>
              </a:defRPr>
            </a:pPr>
            <a:r>
              <a:rPr sz="1600" b="1">
                <a:solidFill>
                  <a:srgbClr val="E87C07"/>
                </a:solidFill>
                <a:latin typeface="Microsoft JhengHei"/>
              </a:rPr>
              <a:t>警示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>
                <a:solidFill>
                  <a:srgbClr val="141413"/>
                </a:solidFill>
                <a:latin typeface="Microsoft JhengHei"/>
              </a:defRPr>
            </a:pPr>
            <a:r>
              <a:rPr sz="1300" b="0">
                <a:solidFill>
                  <a:srgbClr val="141413"/>
                </a:solidFill>
                <a:latin typeface="Microsoft JhengHei"/>
              </a:rPr>
              <a:t>CPU 9%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Memory 74%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Filesystem / 77%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執行 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600200"/>
            <a:ext cx="54864" cy="36118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HOST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54964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41413"/>
                </a:solidFill>
                <a:latin typeface="Microsoft JhengHei"/>
              </a:defRPr>
            </a:pPr>
            <a:r>
              <a:rPr sz="1600" b="1">
                <a:solidFill>
                  <a:srgbClr val="141413"/>
                </a:solidFill>
                <a:latin typeface="Microsoft JhengHei"/>
              </a:rPr>
              <a:t>受監控主機-Debian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1413"/>
                </a:solidFill>
                <a:latin typeface="Microsoft JhengHei"/>
              </a:defRPr>
            </a:pPr>
            <a:r>
              <a:rPr sz="1800" b="1">
                <a:solidFill>
                  <a:srgbClr val="141413"/>
                </a:solidFill>
                <a:latin typeface="Microsoft JhengHei"/>
              </a:rPr>
              <a:t>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E87C07"/>
                </a:solidFill>
                <a:latin typeface="Microsoft JhengHei"/>
              </a:defRPr>
            </a:pPr>
            <a:r>
              <a:rPr sz="1600" b="1">
                <a:solidFill>
                  <a:srgbClr val="E87C07"/>
                </a:solidFill>
                <a:latin typeface="Microsoft JhengHei"/>
              </a:rPr>
              <a:t>警示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>
                <a:solidFill>
                  <a:srgbClr val="141413"/>
                </a:solidFill>
                <a:latin typeface="Microsoft JhengHei"/>
              </a:defRPr>
            </a:pPr>
            <a:r>
              <a:rPr sz="1300" b="0">
                <a:solidFill>
                  <a:srgbClr val="141413"/>
                </a:solidFill>
                <a:latin typeface="Microsoft JhengHei"/>
              </a:rPr>
              <a:t>CPU 9%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Memory 74%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Filesystem / 77%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執行 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深度檢查，不是黑箱。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0">
                <a:solidFill>
                  <a:srgbClr val="707070"/>
                </a:solidFill>
                <a:latin typeface="Microsoft JhengHei"/>
              </a:defRPr>
            </a:pPr>
            <a:r>
              <a:rPr sz="1250" b="0">
                <a:solidFill>
                  <a:srgbClr val="707070"/>
                </a:solidFill>
                <a:latin typeface="Microsoft JhengHei"/>
              </a:rPr>
              <a:t>PASS 也要有證據；WARN 要說清楚問題、證據與處理方式。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2971800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4864" cy="3429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10512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問題點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2651760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網卡 dropped counter 增加，可能影響連線品質。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45920"/>
            <a:ext cx="2971800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1645920"/>
            <a:ext cx="54864" cy="3429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810512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證據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2212848"/>
            <a:ext cx="2651760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NET-02：dropped=17</a:t>
            </a:r>
            <a:br/>
            <a:r>
              <a:rPr sz="1500" b="0">
                <a:solidFill>
                  <a:srgbClr val="141413"/>
                </a:solidFill>
                <a:latin typeface="Microsoft JhengHei"/>
              </a:rPr>
              <a:t>Filesystem：/ 77%</a:t>
            </a:r>
            <a:br/>
            <a:r>
              <a:rPr sz="1500" b="0">
                <a:solidFill>
                  <a:srgbClr val="141413"/>
                </a:solidFill>
                <a:latin typeface="Microsoft JhengHei"/>
              </a:rPr>
              <a:t>Service：無 failed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45920"/>
            <a:ext cx="3749039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54864" cy="3429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810512"/>
            <a:ext cx="342899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建議處置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2212848"/>
            <a:ext cx="3428999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1. 確認哪張網卡增加</a:t>
            </a:r>
            <a:br/>
            <a:r>
              <a:rPr sz="1500" b="0">
                <a:solidFill>
                  <a:srgbClr val="141413"/>
                </a:solidFill>
                <a:latin typeface="Microsoft JhengHei"/>
              </a:rPr>
              <a:t>2. 若持續增加，請 VM / 網路管理員檢查</a:t>
            </a:r>
            <a:br/>
            <a:r>
              <a:rPr sz="1500" b="0">
                <a:solidFill>
                  <a:srgbClr val="141413"/>
                </a:solidFill>
                <a:latin typeface="Microsoft JhengHei"/>
              </a:rPr>
              <a:t>3. 修正後重跑深度檢查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帳號盤點，要回答主管真正想問的。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帳號總數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高權限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516636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PAM 納管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740664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64592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服務帳號可登入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964692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2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新增異動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14400" y="3749039"/>
            <a:ext cx="10241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700" b="1">
                <a:solidFill>
                  <a:srgbClr val="141413"/>
                </a:solidFill>
                <a:latin typeface="Microsoft JhengHei"/>
              </a:defRPr>
            </a:pPr>
            <a:r>
              <a:rPr sz="2700" b="1">
                <a:solidFill>
                  <a:srgbClr val="141413"/>
                </a:solidFill>
                <a:latin typeface="Microsoft JhengHei"/>
              </a:rPr>
              <a:t>重點不是列出所有帳號，而是知道誰需要複核、誰已納管、誰和上次不同。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差異報告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PAM 狀態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高權限清冊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效能月報，讓主管看到趨勢，不看 raw data。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納管主機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本月有 NMON 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55448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採樣覆蓋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96%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平均覆蓋率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55448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容量風險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需追蹤主機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5166360"/>
            <a:ext cx="9875520" cy="0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3246120"/>
            <a:ext cx="0" cy="1920240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88720" y="4526279"/>
            <a:ext cx="1645920" cy="182881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834640" y="4343400"/>
            <a:ext cx="1554480" cy="182879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389120" y="4206240"/>
            <a:ext cx="1645920" cy="137160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35040" y="3995928"/>
            <a:ext cx="1737360" cy="210312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72400" y="3904487"/>
            <a:ext cx="2286000" cy="91441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133856" y="465429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2779776" y="447141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7" name="Oval 26"/>
          <p:cNvSpPr/>
          <p:nvPr/>
        </p:nvSpPr>
        <p:spPr>
          <a:xfrm>
            <a:off x="4334256" y="428853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8" name="Oval 27"/>
          <p:cNvSpPr/>
          <p:nvPr/>
        </p:nvSpPr>
        <p:spPr>
          <a:xfrm>
            <a:off x="5980176" y="415137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7717536" y="3941064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30" name="Oval 29"/>
          <p:cNvSpPr/>
          <p:nvPr/>
        </p:nvSpPr>
        <p:spPr>
          <a:xfrm>
            <a:off x="10003536" y="3849624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14400" y="5486400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0">
                <a:solidFill>
                  <a:srgbClr val="707070"/>
                </a:solidFill>
                <a:latin typeface="Microsoft JhengHei"/>
              </a:defRPr>
            </a:pPr>
            <a:r>
              <a:rPr sz="1700" b="0">
                <a:solidFill>
                  <a:srgbClr val="707070"/>
                </a:solidFill>
                <a:latin typeface="Microsoft JhengHei"/>
              </a:rPr>
              <a:t>呈現 CPU、記憶體、磁碟、尖峰與容量趨勢；raw file 留在明細，不放在主管頁。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系統拓撲，回答「誰會被影響」。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269748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0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1413"/>
                </a:solidFill>
                <a:latin typeface="Microsoft JhengHei"/>
              </a:defRPr>
            </a:pPr>
            <a:r>
              <a:rPr sz="1600" b="1">
                <a:solidFill>
                  <a:srgbClr val="141413"/>
                </a:solidFill>
                <a:latin typeface="Microsoft JhengHei"/>
              </a:rPr>
              <a:t>核心</a:t>
            </a:r>
            <a:br/>
            <a:r>
              <a:rPr sz="1600" b="1">
                <a:solidFill>
                  <a:srgbClr val="141413"/>
                </a:solidFill>
                <a:latin typeface="Microsoft JhengHei"/>
              </a:rPr>
              <a:t>系統</a:t>
            </a:r>
          </a:p>
        </p:txBody>
      </p:sp>
      <p:sp>
        <p:nvSpPr>
          <p:cNvPr id="4" name="Oval 3"/>
          <p:cNvSpPr/>
          <p:nvPr/>
        </p:nvSpPr>
        <p:spPr>
          <a:xfrm>
            <a:off x="3154680" y="150876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3"/>
                </a:solidFill>
                <a:latin typeface="Microsoft JhengHei"/>
              </a:defRPr>
            </a:pPr>
            <a:r>
              <a:rPr sz="1400" b="1">
                <a:solidFill>
                  <a:srgbClr val="141413"/>
                </a:solidFill>
                <a:latin typeface="Microsoft JhengHei"/>
              </a:rPr>
              <a:t>交易</a:t>
            </a:r>
            <a:br/>
            <a:r>
              <a:rPr sz="1400" b="1">
                <a:solidFill>
                  <a:srgbClr val="141413"/>
                </a:solidFill>
                <a:latin typeface="Microsoft JhengHei"/>
              </a:rPr>
              <a:t>核心</a:t>
            </a:r>
          </a:p>
        </p:txBody>
      </p:sp>
      <p:sp>
        <p:nvSpPr>
          <p:cNvPr id="5" name="Oval 4"/>
          <p:cNvSpPr/>
          <p:nvPr/>
        </p:nvSpPr>
        <p:spPr>
          <a:xfrm>
            <a:off x="3154680" y="292608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3"/>
                </a:solidFill>
                <a:latin typeface="Microsoft JhengHei"/>
              </a:defRPr>
            </a:pPr>
            <a:r>
              <a:rPr sz="1400" b="1">
                <a:solidFill>
                  <a:srgbClr val="141413"/>
                </a:solidFill>
                <a:latin typeface="Microsoft JhengHei"/>
              </a:rPr>
              <a:t>巡檢</a:t>
            </a:r>
            <a:br/>
            <a:r>
              <a:rPr sz="1400" b="1">
                <a:solidFill>
                  <a:srgbClr val="141413"/>
                </a:solidFill>
                <a:latin typeface="Microsoft JhengHei"/>
              </a:rPr>
              <a:t>系統</a:t>
            </a:r>
          </a:p>
        </p:txBody>
      </p:sp>
      <p:sp>
        <p:nvSpPr>
          <p:cNvPr id="6" name="Oval 5"/>
          <p:cNvSpPr/>
          <p:nvPr/>
        </p:nvSpPr>
        <p:spPr>
          <a:xfrm>
            <a:off x="3154680" y="43434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3"/>
                </a:solidFill>
                <a:latin typeface="Microsoft JhengHei"/>
              </a:defRPr>
            </a:pPr>
            <a:r>
              <a:rPr sz="1400" b="1">
                <a:solidFill>
                  <a:srgbClr val="141413"/>
                </a:solidFill>
                <a:latin typeface="Microsoft JhengHei"/>
              </a:rPr>
              <a:t>帳務</a:t>
            </a:r>
            <a:br/>
            <a:r>
              <a:rPr sz="1400" b="1">
                <a:solidFill>
                  <a:srgbClr val="141413"/>
                </a:solidFill>
                <a:latin typeface="Microsoft JhengHei"/>
              </a:rPr>
              <a:t>核心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103120" y="2057400"/>
            <a:ext cx="1051560" cy="1261872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03120" y="3319272"/>
            <a:ext cx="1051560" cy="15544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3120" y="3319272"/>
            <a:ext cx="1051560" cy="157276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23560" y="13258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AP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297680" y="1581912"/>
            <a:ext cx="1325880" cy="18928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23560" y="22402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DB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297680" y="2496312"/>
            <a:ext cx="1325880" cy="9784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23560" y="31546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Batch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297680" y="3410712"/>
            <a:ext cx="1325880" cy="640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23560" y="40690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FE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97680" y="3474720"/>
            <a:ext cx="1325880" cy="850392"/>
          </a:xfrm>
          <a:prstGeom prst="line">
            <a:avLst/>
          </a:prstGeom>
          <a:ln w="15240">
            <a:solidFill>
              <a:srgbClr val="26A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23560" y="49834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PAM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7680" y="3474720"/>
            <a:ext cx="1325880" cy="1764792"/>
          </a:xfrm>
          <a:prstGeom prst="line">
            <a:avLst/>
          </a:prstGeom>
          <a:ln w="15240">
            <a:solidFill>
              <a:srgbClr val="26A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58200" y="182880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41413"/>
                </a:solidFill>
                <a:latin typeface="Microsoft JhengHei"/>
              </a:defRPr>
            </a:pPr>
            <a:r>
              <a:rPr sz="1200" b="1">
                <a:solidFill>
                  <a:srgbClr val="141413"/>
                </a:solidFill>
                <a:latin typeface="Microsoft JhengHei"/>
              </a:rPr>
              <a:t>10.1.4.21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23760" y="205740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58200" y="265176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41413"/>
                </a:solidFill>
                <a:latin typeface="Microsoft JhengHei"/>
              </a:defRPr>
            </a:pPr>
            <a:r>
              <a:rPr sz="1200" b="1">
                <a:solidFill>
                  <a:srgbClr val="141413"/>
                </a:solidFill>
                <a:latin typeface="Microsoft JhengHei"/>
              </a:rPr>
              <a:t>10.1.4.22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23760" y="288036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58200" y="347472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41413"/>
                </a:solidFill>
                <a:latin typeface="Microsoft JhengHei"/>
              </a:defRPr>
            </a:pPr>
            <a:r>
              <a:rPr sz="1200" b="1">
                <a:solidFill>
                  <a:srgbClr val="141413"/>
                </a:solidFill>
                <a:latin typeface="Microsoft JhengHei"/>
              </a:rPr>
              <a:t>10.1.4.23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60" y="370332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38160" y="4983480"/>
            <a:ext cx="3383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1">
                <a:solidFill>
                  <a:srgbClr val="141413"/>
                </a:solidFill>
                <a:latin typeface="Microsoft JhengHei"/>
              </a:defRPr>
            </a:pPr>
            <a:r>
              <a:rPr sz="2100" b="1">
                <a:solidFill>
                  <a:srgbClr val="141413"/>
                </a:solidFill>
                <a:latin typeface="Microsoft JhengHei"/>
              </a:rPr>
              <a:t>維護前先看影響範圍，故障時知道要通知誰。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AI 可以協助 debug，但不直接碰 VM。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VM 產生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log / report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7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去識別化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bundle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3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公司 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分析原因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59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52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修 code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45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38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測試機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重新驗證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900" b="1">
                <a:solidFill>
                  <a:srgbClr val="141413"/>
                </a:solidFill>
                <a:latin typeface="Microsoft JhengHei"/>
              </a:defRPr>
            </a:pPr>
            <a:r>
              <a:rPr sz="2900" b="1">
                <a:solidFill>
                  <a:srgbClr val="141413"/>
                </a:solidFill>
                <a:latin typeface="Microsoft JhengHei"/>
              </a:rPr>
              <a:t>原則：AI 看整理後的證據，不直接登入公司 VM。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架構很簡單：收集、判斷、呈現、追蹤。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收集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SSH / WinRM / nmap / NMON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判斷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規則 / 差異 / 門檻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253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呈現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Dashboard / 報表 / 拓撲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685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追蹤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MongoDB / Log /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10058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0">
                <a:solidFill>
                  <a:srgbClr val="707070"/>
                </a:solidFill>
                <a:latin typeface="Microsoft JhengHei"/>
              </a:defRPr>
            </a:pPr>
            <a:r>
              <a:rPr sz="2200" b="0">
                <a:solidFill>
                  <a:srgbClr val="707070"/>
                </a:solidFill>
                <a:latin typeface="Microsoft JhengHei"/>
              </a:rPr>
              <a:t>技術細節可以拆開，但主管只需要知道：資料從哪裡來、怎麼判斷、結果在哪裡看。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落地規劃：先把每天會用的做穩。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54864" cy="20116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資產、帳號、開門檢查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79" y="2011680"/>
            <a:ext cx="54864" cy="20116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深度檢查、效能月報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拓撲、通知、AI Debug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19" y="201168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正式上線、權限與稽核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600" b="1">
                <a:solidFill>
                  <a:srgbClr val="141413"/>
                </a:solidFill>
                <a:latin typeface="Microsoft JhengHei"/>
              </a:defRPr>
            </a:pPr>
            <a:r>
              <a:rPr sz="2600" b="1">
                <a:solidFill>
                  <a:srgbClr val="141413"/>
                </a:solidFill>
                <a:latin typeface="Microsoft JhengHei"/>
              </a:rPr>
              <a:t>交付對象：維運人員每天使用；主管與稽核看報表與風險清單。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200" b="1">
                <a:solidFill>
                  <a:srgbClr val="141413"/>
                </a:solidFill>
                <a:latin typeface="Microsoft JhengHei"/>
              </a:defRPr>
            </a:pPr>
            <a:r>
              <a:rPr sz="4200" b="1">
                <a:solidFill>
                  <a:srgbClr val="141413"/>
                </a:solidFill>
                <a:latin typeface="Microsoft JhengHei"/>
              </a:rPr>
              <a:t>讓 IT 從被動救火，變成主動掌握。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246120"/>
            <a:ext cx="9144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600" b="1">
                <a:solidFill>
                  <a:srgbClr val="0D5C47"/>
                </a:solidFill>
                <a:latin typeface="Microsoft JhengHei"/>
              </a:defRPr>
            </a:pPr>
            <a:r>
              <a:rPr sz="2600" b="1">
                <a:solidFill>
                  <a:srgbClr val="0D5C47"/>
                </a:solidFill>
                <a:latin typeface="Microsoft JhengHei"/>
              </a:rPr>
              <a:t>資訊戰情室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資訊戰情室 / Apple-style concept v3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